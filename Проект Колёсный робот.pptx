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0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media/image28.jpeg" ContentType="image/jpeg"/>
  <Override PartName="/ppt/media/image1.png" ContentType="image/png"/>
  <Override PartName="/ppt/media/image38.png" ContentType="image/png"/>
  <Override PartName="/ppt/media/image2.jpeg" ContentType="image/jpeg"/>
  <Override PartName="/ppt/media/image23.jpeg" ContentType="image/jpeg"/>
  <Override PartName="/ppt/media/image8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34.jpeg" ContentType="image/jpeg"/>
  <Override PartName="/ppt/media/image7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svg" ContentType="image/svg"/>
  <Override PartName="/ppt/media/image21.png" ContentType="image/png"/>
  <Override PartName="/ppt/media/image14.png" ContentType="image/png"/>
  <Override PartName="/ppt/media/image15.svg" ContentType="image/svg"/>
  <Override PartName="/ppt/media/image16.png" ContentType="image/png"/>
  <Override PartName="/ppt/media/image17.svg" ContentType="image/svg"/>
  <Override PartName="/ppt/media/image36.jpeg" ContentType="image/jpeg"/>
  <Override PartName="/ppt/media/image18.png" ContentType="image/png"/>
  <Override PartName="/ppt/media/image19.svg" ContentType="image/svg"/>
  <Override PartName="/ppt/media/image25.jpeg" ContentType="image/jpeg"/>
  <Override PartName="/ppt/media/image27.png" ContentType="image/png"/>
  <Override PartName="/ppt/media/image20.png" ContentType="image/png"/>
  <Override PartName="/ppt/media/image22.jpeg" ContentType="image/jpeg"/>
  <Override PartName="/ppt/media/image24.jpeg" ContentType="image/jpeg"/>
  <Override PartName="/ppt/media/image26.jpeg" ContentType="image/jpeg"/>
  <Override PartName="/ppt/media/image37.png" ContentType="image/png"/>
  <Override PartName="/ppt/media/image29.png" ContentType="image/png"/>
  <Override PartName="/ppt/media/image30.png" ContentType="image/png"/>
  <Override PartName="/ppt/media/image31.jpeg" ContentType="image/jpeg"/>
  <Override PartName="/ppt/media/image32.png" ContentType="image/png"/>
  <Override PartName="/ppt/media/image33.jpeg" ContentType="image/jpeg"/>
  <Override PartName="/ppt/media/image35.png" ContentType="image/png"/>
  <Override PartName="/ppt/media/image39.jpeg" ContentType="image/jpeg"/>
  <Override PartName="/ppt/media/image40.png" ContentType="image/png"/>
  <Override PartName="/ppt/media/image41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перемещения страницы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&lt;верхний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9C52FE5-BE0C-429B-9CCA-2CFC49C40CDF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397A9C0-E119-47BB-B2E3-AD129B5F5256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28567F4-4F78-4D60-8605-53F28EFEFA10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4864E97-B068-4F2B-AECE-AC1953CB3005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7B5E7AB-0B33-413F-BFC6-C790F5E3FCB4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CED918C-07C9-4B91-8FAD-91DCEFEC3743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33AEF02-253B-4167-BE52-ACE21821E67F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EF9E563-F3A5-4D96-814F-2EC7A27E263D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464457B-8344-4118-8F55-5827854EBBFB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4EE6CBB-4783-4E1D-A48F-3C7DF589B132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1c0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6eb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1c0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6eb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1c0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6eb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1c0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6eb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1c0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6eb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1c0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6eb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1c0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6eb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1c0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6eb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1c0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6eb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slideLayout" Target="../slideLayouts/slideLayout6.xml"/><Relationship Id="rId9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svg"/><Relationship Id="rId3" Type="http://schemas.openxmlformats.org/officeDocument/2006/relationships/image" Target="../media/image14.png"/><Relationship Id="rId4" Type="http://schemas.openxmlformats.org/officeDocument/2006/relationships/image" Target="../media/image15.svg"/><Relationship Id="rId5" Type="http://schemas.openxmlformats.org/officeDocument/2006/relationships/image" Target="../media/image16.png"/><Relationship Id="rId6" Type="http://schemas.openxmlformats.org/officeDocument/2006/relationships/image" Target="../media/image17.svg"/><Relationship Id="rId7" Type="http://schemas.openxmlformats.org/officeDocument/2006/relationships/image" Target="../media/image18.png"/><Relationship Id="rId8" Type="http://schemas.openxmlformats.org/officeDocument/2006/relationships/image" Target="../media/image19.svg"/><Relationship Id="rId9" Type="http://schemas.openxmlformats.org/officeDocument/2006/relationships/image" Target="../media/image12.png"/><Relationship Id="rId10" Type="http://schemas.openxmlformats.org/officeDocument/2006/relationships/image" Target="../media/image13.svg"/><Relationship Id="rId11" Type="http://schemas.openxmlformats.org/officeDocument/2006/relationships/image" Target="../media/image14.png"/><Relationship Id="rId12" Type="http://schemas.openxmlformats.org/officeDocument/2006/relationships/image" Target="../media/image15.svg"/><Relationship Id="rId13" Type="http://schemas.openxmlformats.org/officeDocument/2006/relationships/image" Target="../media/image16.png"/><Relationship Id="rId14" Type="http://schemas.openxmlformats.org/officeDocument/2006/relationships/image" Target="../media/image17.svg"/><Relationship Id="rId15" Type="http://schemas.openxmlformats.org/officeDocument/2006/relationships/image" Target="../media/image18.png"/><Relationship Id="rId16" Type="http://schemas.openxmlformats.org/officeDocument/2006/relationships/image" Target="../media/image19.svg"/><Relationship Id="rId17" Type="http://schemas.openxmlformats.org/officeDocument/2006/relationships/image" Target="../media/image20.png"/><Relationship Id="rId18" Type="http://schemas.openxmlformats.org/officeDocument/2006/relationships/image" Target="../media/image21.png"/><Relationship Id="rId19" Type="http://schemas.openxmlformats.org/officeDocument/2006/relationships/image" Target="../media/image22.jpeg"/><Relationship Id="rId20" Type="http://schemas.openxmlformats.org/officeDocument/2006/relationships/image" Target="../media/image23.jpeg"/><Relationship Id="rId21" Type="http://schemas.openxmlformats.org/officeDocument/2006/relationships/image" Target="../media/image24.jpeg"/><Relationship Id="rId22" Type="http://schemas.openxmlformats.org/officeDocument/2006/relationships/image" Target="../media/image25.jpeg"/><Relationship Id="rId23" Type="http://schemas.openxmlformats.org/officeDocument/2006/relationships/image" Target="../media/image26.jpeg"/><Relationship Id="rId24" Type="http://schemas.openxmlformats.org/officeDocument/2006/relationships/image" Target="../media/image27.png"/><Relationship Id="rId25" Type="http://schemas.openxmlformats.org/officeDocument/2006/relationships/image" Target="../media/image28.jpeg"/><Relationship Id="rId26" Type="http://schemas.openxmlformats.org/officeDocument/2006/relationships/slideLayout" Target="../slideLayouts/slideLayout7.xml"/><Relationship Id="rId27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image" Target="../media/image32.png"/><Relationship Id="rId3" Type="http://schemas.openxmlformats.org/officeDocument/2006/relationships/image" Target="../media/image33.jpeg"/><Relationship Id="rId4" Type="http://schemas.openxmlformats.org/officeDocument/2006/relationships/image" Target="../media/image34.jpeg"/><Relationship Id="rId5" Type="http://schemas.openxmlformats.org/officeDocument/2006/relationships/image" Target="../media/image35.png"/><Relationship Id="rId6" Type="http://schemas.openxmlformats.org/officeDocument/2006/relationships/image" Target="../media/image36.jpeg"/><Relationship Id="rId7" Type="http://schemas.openxmlformats.org/officeDocument/2006/relationships/slideLayout" Target="../slideLayouts/slideLayout8.xml"/><Relationship Id="rId8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svg"/><Relationship Id="rId3" Type="http://schemas.openxmlformats.org/officeDocument/2006/relationships/image" Target="../media/image14.png"/><Relationship Id="rId4" Type="http://schemas.openxmlformats.org/officeDocument/2006/relationships/image" Target="../media/image15.sv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/>
          <p:nvPr/>
        </p:nvSpPr>
        <p:spPr>
          <a:xfrm>
            <a:off x="793800" y="1491480"/>
            <a:ext cx="4961520" cy="6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4850"/>
              </a:lnSpc>
              <a:tabLst>
                <a:tab algn="l" pos="0"/>
              </a:tabLst>
            </a:pPr>
            <a:r>
              <a:rPr b="0" lang="en-US" sz="3900" strike="noStrike" u="none">
                <a:solidFill>
                  <a:srgbClr val="403011"/>
                </a:solidFill>
                <a:effectLst/>
                <a:uFillTx/>
                <a:latin typeface="Brygada 1918 Semi Bold"/>
                <a:ea typeface="Brygada 1918 Semi Bold"/>
              </a:rPr>
              <a:t>Проект </a:t>
            </a:r>
            <a:endParaRPr b="0" lang="ru-RU" sz="3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793800" y="2190960"/>
            <a:ext cx="6620760" cy="49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3900"/>
              </a:lnSpc>
              <a:tabLst>
                <a:tab algn="l" pos="0"/>
              </a:tabLst>
            </a:pPr>
            <a:r>
              <a:rPr b="0" lang="en-US" sz="3100" strike="noStrike" u="none">
                <a:solidFill>
                  <a:srgbClr val="403011"/>
                </a:solidFill>
                <a:effectLst/>
                <a:uFillTx/>
                <a:latin typeface="Brygada 1918 Semi Bold"/>
                <a:ea typeface="Brygada 1918 Semi Bold"/>
              </a:rPr>
              <a:t>"Универсальный колесный робот"</a:t>
            </a:r>
            <a:endParaRPr b="0" lang="ru-RU" sz="3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"/>
          <p:cNvSpPr/>
          <p:nvPr/>
        </p:nvSpPr>
        <p:spPr>
          <a:xfrm>
            <a:off x="793800" y="2766240"/>
            <a:ext cx="382464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403011"/>
                </a:solidFill>
                <a:effectLst/>
                <a:uFillTx/>
                <a:latin typeface="Brygada 1918 Semi Bold"/>
                <a:ea typeface="Brygada 1918 Semi Bold"/>
              </a:rPr>
              <a:t>Номинация "Колёсные роботы"</a:t>
            </a:r>
            <a:endParaRPr b="0" lang="ru-RU" sz="1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"/>
          <p:cNvSpPr/>
          <p:nvPr/>
        </p:nvSpPr>
        <p:spPr>
          <a:xfrm>
            <a:off x="793800" y="3374280"/>
            <a:ext cx="755604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 defTabSz="914400">
              <a:lnSpc>
                <a:spcPts val="2500"/>
              </a:lnSpc>
              <a:buClr>
                <a:srgbClr val="626c3b"/>
              </a:buClr>
              <a:buFont typeface="Symbol" charset="2"/>
              <a:buChar char=""/>
            </a:pPr>
            <a:r>
              <a:rPr b="1" lang="en-US" sz="1550" strike="noStrike" u="none">
                <a:solidFill>
                  <a:srgbClr val="626c3b"/>
                </a:solidFill>
                <a:effectLst/>
                <a:uFillTx/>
                <a:latin typeface="Brygada 1918"/>
                <a:ea typeface="Brygada 1918"/>
              </a:rPr>
              <a:t>Панков Виктор Владимирович 10З</a:t>
            </a:r>
            <a:endParaRPr b="0" lang="ru-RU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4"/>
          <p:cNvSpPr/>
          <p:nvPr/>
        </p:nvSpPr>
        <p:spPr>
          <a:xfrm>
            <a:off x="793800" y="3840480"/>
            <a:ext cx="755604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 defTabSz="914400">
              <a:lnSpc>
                <a:spcPts val="2500"/>
              </a:lnSpc>
              <a:buClr>
                <a:srgbClr val="626c3b"/>
              </a:buClr>
              <a:buFont typeface="Symbol" charset="2"/>
              <a:buChar char=""/>
            </a:pPr>
            <a:r>
              <a:rPr b="1" lang="en-US" sz="1550" strike="noStrike" u="none">
                <a:solidFill>
                  <a:srgbClr val="626c3b"/>
                </a:solidFill>
                <a:effectLst/>
                <a:uFillTx/>
                <a:latin typeface="Brygada 1918"/>
                <a:ea typeface="Brygada 1918"/>
              </a:rPr>
              <a:t>Осиповых Александр Андреевич 10З</a:t>
            </a:r>
            <a:endParaRPr b="0" lang="ru-RU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00"/>
              </a:lnSpc>
            </a:pPr>
            <a:endParaRPr b="0" lang="ru-RU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5"/>
          <p:cNvSpPr/>
          <p:nvPr/>
        </p:nvSpPr>
        <p:spPr>
          <a:xfrm>
            <a:off x="793800" y="4306680"/>
            <a:ext cx="755604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 defTabSz="914400">
              <a:lnSpc>
                <a:spcPts val="2500"/>
              </a:lnSpc>
              <a:buClr>
                <a:srgbClr val="626c3b"/>
              </a:buClr>
              <a:buFont typeface="Symbol" charset="2"/>
              <a:buChar char=""/>
            </a:pPr>
            <a:r>
              <a:rPr b="1" lang="en-US" sz="1550" strike="noStrike" u="none">
                <a:solidFill>
                  <a:srgbClr val="626c3b"/>
                </a:solidFill>
                <a:effectLst/>
                <a:uFillTx/>
                <a:latin typeface="Brygada 1918"/>
                <a:ea typeface="Brygada 1918"/>
              </a:rPr>
              <a:t>Плотников Леонид Александрович 10З</a:t>
            </a:r>
            <a:endParaRPr b="0" lang="ru-RU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6"/>
          <p:cNvSpPr/>
          <p:nvPr/>
        </p:nvSpPr>
        <p:spPr>
          <a:xfrm>
            <a:off x="793800" y="4926960"/>
            <a:ext cx="7556040" cy="11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101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403011"/>
                </a:solidFill>
                <a:effectLst/>
                <a:uFillTx/>
                <a:latin typeface="Brygada 1918"/>
                <a:ea typeface="Brygada 1918"/>
              </a:rPr>
              <a:t>Школа №1580Руководитель проекта: Кулешов Евгений Андреевич</a:t>
            </a:r>
            <a:endParaRPr b="0" lang="ru-RU" sz="1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7"/>
          <p:cNvSpPr/>
          <p:nvPr/>
        </p:nvSpPr>
        <p:spPr>
          <a:xfrm>
            <a:off x="793800" y="6341040"/>
            <a:ext cx="755604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3101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403011"/>
                </a:solidFill>
                <a:effectLst/>
                <a:uFillTx/>
                <a:latin typeface="Brygada 1918"/>
                <a:ea typeface="Brygada 1918"/>
              </a:rPr>
              <a:t>2025 год</a:t>
            </a:r>
            <a:endParaRPr b="0" lang="ru-RU" sz="1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9" name="Picture 2" descr=""/>
          <p:cNvPicPr/>
          <p:nvPr/>
        </p:nvPicPr>
        <p:blipFill>
          <a:blip r:embed="rId1"/>
          <a:stretch/>
        </p:blipFill>
        <p:spPr>
          <a:xfrm>
            <a:off x="8456760" y="0"/>
            <a:ext cx="6173280" cy="8229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4630040" cy="260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Text 0"/>
          <p:cNvSpPr/>
          <p:nvPr/>
        </p:nvSpPr>
        <p:spPr>
          <a:xfrm>
            <a:off x="793800" y="3573720"/>
            <a:ext cx="4920480" cy="49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3900"/>
              </a:lnSpc>
              <a:tabLst>
                <a:tab algn="l" pos="0"/>
              </a:tabLst>
            </a:pPr>
            <a:r>
              <a:rPr b="0" lang="en-US" sz="3100" strike="noStrike" u="none">
                <a:solidFill>
                  <a:srgbClr val="403011"/>
                </a:solidFill>
                <a:effectLst/>
                <a:uFillTx/>
                <a:latin typeface="Brygada 1918 Semi Bold"/>
                <a:ea typeface="Brygada 1918 Semi Bold"/>
              </a:rPr>
              <a:t>Введение и Актуальность</a:t>
            </a:r>
            <a:endParaRPr b="0" lang="ru-RU" sz="3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"/>
          <p:cNvSpPr/>
          <p:nvPr/>
        </p:nvSpPr>
        <p:spPr>
          <a:xfrm>
            <a:off x="793800" y="4367160"/>
            <a:ext cx="4214880" cy="2769120"/>
          </a:xfrm>
          <a:prstGeom prst="roundRect">
            <a:avLst>
              <a:gd name="adj" fmla="val 3962"/>
            </a:avLst>
          </a:prstGeom>
          <a:solidFill>
            <a:srgbClr val="f6ebd4"/>
          </a:solidFill>
          <a:ln w="22860">
            <a:solidFill>
              <a:srgbClr val="626c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2"/>
          <p:cNvSpPr/>
          <p:nvPr/>
        </p:nvSpPr>
        <p:spPr>
          <a:xfrm>
            <a:off x="770760" y="4367160"/>
            <a:ext cx="91080" cy="2769120"/>
          </a:xfrm>
          <a:prstGeom prst="roundRect">
            <a:avLst>
              <a:gd name="adj" fmla="val 325581"/>
            </a:avLst>
          </a:prstGeom>
          <a:solidFill>
            <a:srgbClr val="626c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3"/>
          <p:cNvSpPr/>
          <p:nvPr/>
        </p:nvSpPr>
        <p:spPr>
          <a:xfrm>
            <a:off x="1083600" y="4588560"/>
            <a:ext cx="28479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403011"/>
                </a:solidFill>
                <a:effectLst/>
                <a:uFillTx/>
                <a:latin typeface="Brygada 1918 Semi Bold"/>
                <a:ea typeface="Brygada 1918 Semi Bold"/>
              </a:rPr>
              <a:t>Основная идея проекта</a:t>
            </a:r>
            <a:endParaRPr b="0" lang="ru-RU" sz="1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4"/>
          <p:cNvSpPr/>
          <p:nvPr/>
        </p:nvSpPr>
        <p:spPr>
          <a:xfrm>
            <a:off x="1083600" y="5017680"/>
            <a:ext cx="3704040" cy="11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101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403011"/>
                </a:solidFill>
                <a:effectLst/>
                <a:uFillTx/>
                <a:latin typeface="Brygada 1918"/>
                <a:ea typeface="Brygada 1918"/>
              </a:rPr>
              <a:t>Разработать и создать универсального колесного робота.</a:t>
            </a:r>
            <a:endParaRPr b="0" lang="ru-RU" sz="1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5"/>
          <p:cNvSpPr/>
          <p:nvPr/>
        </p:nvSpPr>
        <p:spPr>
          <a:xfrm>
            <a:off x="5207400" y="4367160"/>
            <a:ext cx="4214880" cy="2769120"/>
          </a:xfrm>
          <a:prstGeom prst="roundRect">
            <a:avLst>
              <a:gd name="adj" fmla="val 3962"/>
            </a:avLst>
          </a:prstGeom>
          <a:solidFill>
            <a:srgbClr val="f6ebd4"/>
          </a:solidFill>
          <a:ln w="22860">
            <a:solidFill>
              <a:srgbClr val="8379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6"/>
          <p:cNvSpPr/>
          <p:nvPr/>
        </p:nvSpPr>
        <p:spPr>
          <a:xfrm>
            <a:off x="5184720" y="4367160"/>
            <a:ext cx="91080" cy="2769120"/>
          </a:xfrm>
          <a:prstGeom prst="roundRect">
            <a:avLst>
              <a:gd name="adj" fmla="val 325581"/>
            </a:avLst>
          </a:prstGeom>
          <a:solidFill>
            <a:srgbClr val="8379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7"/>
          <p:cNvSpPr/>
          <p:nvPr/>
        </p:nvSpPr>
        <p:spPr>
          <a:xfrm>
            <a:off x="5497200" y="4588560"/>
            <a:ext cx="3704040" cy="61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403011"/>
                </a:solidFill>
                <a:effectLst/>
                <a:uFillTx/>
                <a:latin typeface="Brygada 1918 Semi Bold"/>
                <a:ea typeface="Brygada 1918 Semi Bold"/>
              </a:rPr>
              <a:t>Какие проблемы решает проект</a:t>
            </a:r>
            <a:endParaRPr b="0" lang="ru-RU" sz="1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8"/>
          <p:cNvSpPr/>
          <p:nvPr/>
        </p:nvSpPr>
        <p:spPr>
          <a:xfrm>
            <a:off x="5497200" y="5328000"/>
            <a:ext cx="3704040" cy="158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101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403011"/>
                </a:solidFill>
                <a:effectLst/>
                <a:uFillTx/>
                <a:latin typeface="Brygada 1918"/>
                <a:ea typeface="Brygada 1918"/>
              </a:rPr>
              <a:t>Отсутствие на рынке многоцелевых роботов, которые можно настроить под свои нужды.</a:t>
            </a:r>
            <a:endParaRPr b="0" lang="ru-RU" sz="1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9"/>
          <p:cNvSpPr/>
          <p:nvPr/>
        </p:nvSpPr>
        <p:spPr>
          <a:xfrm>
            <a:off x="9621360" y="4367160"/>
            <a:ext cx="4214880" cy="2769120"/>
          </a:xfrm>
          <a:prstGeom prst="roundRect">
            <a:avLst>
              <a:gd name="adj" fmla="val 3962"/>
            </a:avLst>
          </a:prstGeom>
          <a:solidFill>
            <a:srgbClr val="f6ebd4"/>
          </a:solidFill>
          <a:ln w="22860">
            <a:solidFill>
              <a:srgbClr val="e8af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0"/>
          <p:cNvSpPr/>
          <p:nvPr/>
        </p:nvSpPr>
        <p:spPr>
          <a:xfrm>
            <a:off x="9598320" y="4367160"/>
            <a:ext cx="91080" cy="2769120"/>
          </a:xfrm>
          <a:prstGeom prst="roundRect">
            <a:avLst>
              <a:gd name="adj" fmla="val 325581"/>
            </a:avLst>
          </a:prstGeom>
          <a:solidFill>
            <a:srgbClr val="e8af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1"/>
          <p:cNvSpPr/>
          <p:nvPr/>
        </p:nvSpPr>
        <p:spPr>
          <a:xfrm>
            <a:off x="9911160" y="4588560"/>
            <a:ext cx="28821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403011"/>
                </a:solidFill>
                <a:effectLst/>
                <a:uFillTx/>
                <a:latin typeface="Brygada 1918 Semi Bold"/>
                <a:ea typeface="Brygada 1918 Semi Bold"/>
              </a:rPr>
              <a:t>Преимущества проекта</a:t>
            </a:r>
            <a:endParaRPr b="0" lang="ru-RU" sz="1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2"/>
          <p:cNvSpPr/>
          <p:nvPr/>
        </p:nvSpPr>
        <p:spPr>
          <a:xfrm>
            <a:off x="9911160" y="5017680"/>
            <a:ext cx="3704040" cy="11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101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403011"/>
                </a:solidFill>
                <a:effectLst/>
                <a:uFillTx/>
                <a:latin typeface="Brygada 1918"/>
                <a:ea typeface="Brygada 1918"/>
              </a:rPr>
              <a:t>Уникальность продукта и возможность изменения и доработки робота.</a:t>
            </a:r>
            <a:endParaRPr b="0" lang="ru-RU" sz="1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15"/>
          <p:cNvSpPr/>
          <p:nvPr/>
        </p:nvSpPr>
        <p:spPr>
          <a:xfrm>
            <a:off x="12018600" y="7540560"/>
            <a:ext cx="2541240" cy="606600"/>
          </a:xfrm>
          <a:prstGeom prst="rect">
            <a:avLst/>
          </a:prstGeom>
          <a:solidFill>
            <a:srgbClr val="f6ebd4"/>
          </a:solidFill>
          <a:ln>
            <a:solidFill>
              <a:srgbClr val="f6eb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3"/>
          <p:cNvSpPr/>
          <p:nvPr/>
        </p:nvSpPr>
        <p:spPr>
          <a:xfrm>
            <a:off x="793800" y="1157760"/>
            <a:ext cx="4221360" cy="49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3900"/>
              </a:lnSpc>
              <a:tabLst>
                <a:tab algn="l" pos="0"/>
              </a:tabLst>
            </a:pPr>
            <a:r>
              <a:rPr b="0" lang="en-US" sz="3100" strike="noStrike" u="none">
                <a:solidFill>
                  <a:srgbClr val="403011"/>
                </a:solidFill>
                <a:effectLst/>
                <a:uFillTx/>
                <a:latin typeface="Brygada 1918 Semi Bold"/>
                <a:ea typeface="Brygada 1918 Semi Bold"/>
              </a:rPr>
              <a:t>Цель и Задачи Работы</a:t>
            </a:r>
            <a:endParaRPr b="0" lang="ru-RU" sz="3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4"/>
          <p:cNvSpPr/>
          <p:nvPr/>
        </p:nvSpPr>
        <p:spPr>
          <a:xfrm>
            <a:off x="793800" y="1951560"/>
            <a:ext cx="7556040" cy="5119920"/>
          </a:xfrm>
          <a:prstGeom prst="roundRect">
            <a:avLst>
              <a:gd name="adj" fmla="val 5814"/>
            </a:avLst>
          </a:prstGeom>
          <a:solidFill>
            <a:srgbClr val="626c3b"/>
          </a:solidFill>
          <a:ln w="7620">
            <a:solidFill>
              <a:srgbClr val="7b85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5"/>
          <p:cNvSpPr/>
          <p:nvPr/>
        </p:nvSpPr>
        <p:spPr>
          <a:xfrm>
            <a:off x="801360" y="1959120"/>
            <a:ext cx="7540920" cy="2016360"/>
          </a:xfrm>
          <a:prstGeom prst="roundRect">
            <a:avLst>
              <a:gd name="adj" fmla="val 14762"/>
            </a:avLst>
          </a:prstGeom>
          <a:solidFill>
            <a:srgbClr val="8379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6"/>
          <p:cNvSpPr/>
          <p:nvPr/>
        </p:nvSpPr>
        <p:spPr>
          <a:xfrm>
            <a:off x="999720" y="2157480"/>
            <a:ext cx="24804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efe0c2"/>
                </a:solidFill>
                <a:effectLst/>
                <a:uFillTx/>
                <a:latin typeface="Brygada 1918 Semi Bold"/>
                <a:ea typeface="Brygada 1918 Semi Bold"/>
              </a:rPr>
              <a:t>Цель</a:t>
            </a:r>
            <a:endParaRPr b="0" lang="ru-RU" sz="1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7"/>
          <p:cNvSpPr/>
          <p:nvPr/>
        </p:nvSpPr>
        <p:spPr>
          <a:xfrm>
            <a:off x="999720" y="2586600"/>
            <a:ext cx="7144200" cy="11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101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ffffff"/>
                </a:solidFill>
                <a:effectLst/>
                <a:uFillTx/>
                <a:latin typeface="Brygada 1918"/>
                <a:ea typeface="Brygada 1918"/>
              </a:rPr>
              <a:t>Разработать, собрать и опробовать функциональный прототип мобильного робота на базе ESP-32, управляемого со смартфона через Wi-Fi соединение.</a:t>
            </a:r>
            <a:endParaRPr b="0" lang="ru-RU" sz="1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9"/>
          <p:cNvSpPr/>
          <p:nvPr/>
        </p:nvSpPr>
        <p:spPr>
          <a:xfrm>
            <a:off x="801360" y="3975840"/>
            <a:ext cx="7540920" cy="22680"/>
          </a:xfrm>
          <a:prstGeom prst="roundRect">
            <a:avLst>
              <a:gd name="adj" fmla="val 1302324"/>
            </a:avLst>
          </a:prstGeom>
          <a:solidFill>
            <a:srgbClr val="9c92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8800" bIns="-288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0"/>
          <p:cNvSpPr/>
          <p:nvPr/>
        </p:nvSpPr>
        <p:spPr>
          <a:xfrm>
            <a:off x="999720" y="4174200"/>
            <a:ext cx="24804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efe0c2"/>
                </a:solidFill>
                <a:effectLst/>
                <a:uFillTx/>
                <a:latin typeface="Brygada 1918 Semi Bold"/>
                <a:ea typeface="Brygada 1918 Semi Bold"/>
              </a:rPr>
              <a:t>Задачи</a:t>
            </a:r>
            <a:endParaRPr b="0" lang="ru-RU" sz="1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1"/>
          <p:cNvSpPr/>
          <p:nvPr/>
        </p:nvSpPr>
        <p:spPr>
          <a:xfrm>
            <a:off x="999720" y="4603320"/>
            <a:ext cx="714420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 defTabSz="914400">
              <a:lnSpc>
                <a:spcPts val="25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550" strike="noStrike" u="none">
                <a:solidFill>
                  <a:srgbClr val="ffffff"/>
                </a:solidFill>
                <a:effectLst/>
                <a:uFillTx/>
                <a:latin typeface="Brygada 1918"/>
                <a:ea typeface="Brygada 1918"/>
              </a:rPr>
              <a:t>Анализ и подбор компонентов</a:t>
            </a:r>
            <a:endParaRPr b="0" lang="ru-RU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2"/>
          <p:cNvSpPr/>
          <p:nvPr/>
        </p:nvSpPr>
        <p:spPr>
          <a:xfrm>
            <a:off x="999720" y="5069880"/>
            <a:ext cx="714420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 defTabSz="914400">
              <a:lnSpc>
                <a:spcPts val="25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550" strike="noStrike" u="none">
                <a:solidFill>
                  <a:srgbClr val="ffffff"/>
                </a:solidFill>
                <a:effectLst/>
                <a:uFillTx/>
                <a:latin typeface="Brygada 1918"/>
                <a:ea typeface="Brygada 1918"/>
              </a:rPr>
              <a:t>Разработка схемы и сборка</a:t>
            </a:r>
            <a:endParaRPr b="0" lang="ru-RU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3"/>
          <p:cNvSpPr/>
          <p:nvPr/>
        </p:nvSpPr>
        <p:spPr>
          <a:xfrm>
            <a:off x="999720" y="5536080"/>
            <a:ext cx="714420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 defTabSz="914400">
              <a:lnSpc>
                <a:spcPts val="25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550" strike="noStrike" u="none">
                <a:solidFill>
                  <a:srgbClr val="ffffff"/>
                </a:solidFill>
                <a:effectLst/>
                <a:uFillTx/>
                <a:latin typeface="Brygada 1918"/>
                <a:ea typeface="Brygada 1918"/>
              </a:rPr>
              <a:t>Написание ПО для микроконтроллера</a:t>
            </a:r>
            <a:endParaRPr b="0" lang="ru-RU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4"/>
          <p:cNvSpPr/>
          <p:nvPr/>
        </p:nvSpPr>
        <p:spPr>
          <a:xfrm>
            <a:off x="999720" y="6002640"/>
            <a:ext cx="714420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 defTabSz="914400">
              <a:lnSpc>
                <a:spcPts val="25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550" strike="noStrike" u="none">
                <a:solidFill>
                  <a:srgbClr val="ffffff"/>
                </a:solidFill>
                <a:effectLst/>
                <a:uFillTx/>
                <a:latin typeface="Brygada 1918"/>
                <a:ea typeface="Brygada 1918"/>
              </a:rPr>
              <a:t>Проверка работоспособности робота</a:t>
            </a:r>
            <a:endParaRPr b="0" lang="ru-RU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5"/>
          <p:cNvSpPr/>
          <p:nvPr/>
        </p:nvSpPr>
        <p:spPr>
          <a:xfrm>
            <a:off x="999720" y="6468840"/>
            <a:ext cx="714420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 defTabSz="914400">
              <a:lnSpc>
                <a:spcPts val="25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550" strike="noStrike" u="none">
                <a:solidFill>
                  <a:srgbClr val="ffffff"/>
                </a:solidFill>
                <a:effectLst/>
                <a:uFillTx/>
                <a:latin typeface="Brygada 1918"/>
                <a:ea typeface="Brygada 1918"/>
              </a:rPr>
              <a:t>Оценка результатов и перспектив</a:t>
            </a:r>
            <a:endParaRPr b="0" lang="ru-RU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7" name="Picture 31" descr=""/>
          <p:cNvPicPr/>
          <p:nvPr/>
        </p:nvPicPr>
        <p:blipFill>
          <a:blip r:embed="rId1"/>
          <a:srcRect l="0" t="0" r="8637" b="0"/>
          <a:stretch/>
        </p:blipFill>
        <p:spPr>
          <a:xfrm>
            <a:off x="9007200" y="0"/>
            <a:ext cx="5622840" cy="8229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0"/>
          <p:cNvSpPr/>
          <p:nvPr/>
        </p:nvSpPr>
        <p:spPr>
          <a:xfrm>
            <a:off x="793800" y="676800"/>
            <a:ext cx="5242320" cy="43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3399"/>
              </a:lnSpc>
              <a:tabLst>
                <a:tab algn="l" pos="0"/>
              </a:tabLst>
            </a:pPr>
            <a:r>
              <a:rPr b="0" lang="en-US" sz="2700" strike="noStrike" u="none">
                <a:solidFill>
                  <a:srgbClr val="403011"/>
                </a:solidFill>
                <a:effectLst/>
                <a:uFillTx/>
                <a:latin typeface="Brygada 1918 Semi Bold"/>
                <a:ea typeface="Brygada 1918 Semi Bold"/>
              </a:rPr>
              <a:t>Методика Выполнения Работы</a:t>
            </a:r>
            <a:endParaRPr b="0" lang="ru-RU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"/>
          <p:cNvSpPr/>
          <p:nvPr/>
        </p:nvSpPr>
        <p:spPr>
          <a:xfrm>
            <a:off x="793800" y="1458000"/>
            <a:ext cx="3472920" cy="43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3399"/>
              </a:lnSpc>
              <a:tabLst>
                <a:tab algn="l" pos="0"/>
              </a:tabLst>
            </a:pPr>
            <a:r>
              <a:rPr b="0" lang="en-US" sz="2700" strike="noStrike" u="none">
                <a:solidFill>
                  <a:srgbClr val="403011"/>
                </a:solidFill>
                <a:effectLst/>
                <a:uFillTx/>
                <a:latin typeface="Brygada 1918 Semi Bold"/>
                <a:ea typeface="Brygada 1918 Semi Bold"/>
              </a:rPr>
              <a:t>Этапы Проекта:</a:t>
            </a:r>
            <a:endParaRPr b="0" lang="ru-RU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0" name="Image 0" descr="preencoded.png"/>
          <p:cNvPicPr/>
          <p:nvPr/>
        </p:nvPicPr>
        <p:blipFill>
          <a:blip r:embed="rId1"/>
          <a:stretch/>
        </p:blipFill>
        <p:spPr>
          <a:xfrm>
            <a:off x="793800" y="2048400"/>
            <a:ext cx="694080" cy="102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Text 2"/>
          <p:cNvSpPr/>
          <p:nvPr/>
        </p:nvSpPr>
        <p:spPr>
          <a:xfrm>
            <a:off x="1627200" y="2187360"/>
            <a:ext cx="5496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0" lang="en-US" sz="2150" strike="noStrike" u="none">
                <a:solidFill>
                  <a:srgbClr val="403011"/>
                </a:solidFill>
                <a:effectLst/>
                <a:uFillTx/>
                <a:latin typeface="Brygada 1918 Semi Bold"/>
                <a:ea typeface="Brygada 1918 Semi Bold"/>
              </a:rPr>
              <a:t>Определение характеристик, которыми </a:t>
            </a:r>
            <a:endParaRPr b="0" lang="ru-RU" sz="2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3"/>
          <p:cNvSpPr/>
          <p:nvPr/>
        </p:nvSpPr>
        <p:spPr>
          <a:xfrm>
            <a:off x="1627200" y="2590200"/>
            <a:ext cx="311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0" lang="en-US" sz="2150" strike="noStrike" u="none">
                <a:solidFill>
                  <a:srgbClr val="403011"/>
                </a:solidFill>
                <a:effectLst/>
                <a:uFillTx/>
                <a:latin typeface="Brygada 1918 Semi Bold"/>
                <a:ea typeface="Brygada 1918 Semi Bold"/>
              </a:rPr>
              <a:t>должен обладать робот</a:t>
            </a:r>
            <a:endParaRPr b="0" lang="ru-RU" sz="2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3" name="Image 1" descr="preencoded.png"/>
          <p:cNvPicPr/>
          <p:nvPr/>
        </p:nvPicPr>
        <p:blipFill>
          <a:blip r:embed="rId2"/>
          <a:stretch/>
        </p:blipFill>
        <p:spPr>
          <a:xfrm>
            <a:off x="793800" y="3076200"/>
            <a:ext cx="694080" cy="83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Text 4"/>
          <p:cNvSpPr/>
          <p:nvPr/>
        </p:nvSpPr>
        <p:spPr>
          <a:xfrm>
            <a:off x="1627200" y="3215160"/>
            <a:ext cx="3596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0" lang="en-US" sz="2150" strike="noStrike" u="none">
                <a:solidFill>
                  <a:srgbClr val="403011"/>
                </a:solidFill>
                <a:effectLst/>
                <a:uFillTx/>
                <a:latin typeface="Brygada 1918 Semi Bold"/>
                <a:ea typeface="Brygada 1918 Semi Bold"/>
              </a:rPr>
              <a:t>Разработка модели робота</a:t>
            </a:r>
            <a:endParaRPr b="0" lang="ru-RU" sz="2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5" name="Image 2" descr="preencoded.png"/>
          <p:cNvPicPr/>
          <p:nvPr/>
        </p:nvPicPr>
        <p:blipFill>
          <a:blip r:embed="rId3"/>
          <a:stretch/>
        </p:blipFill>
        <p:spPr>
          <a:xfrm>
            <a:off x="793800" y="3909600"/>
            <a:ext cx="694080" cy="83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Text 5"/>
          <p:cNvSpPr/>
          <p:nvPr/>
        </p:nvSpPr>
        <p:spPr>
          <a:xfrm>
            <a:off x="1627200" y="4048560"/>
            <a:ext cx="283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0" lang="en-US" sz="2150" strike="noStrike" u="none">
                <a:solidFill>
                  <a:srgbClr val="403011"/>
                </a:solidFill>
                <a:effectLst/>
                <a:uFillTx/>
                <a:latin typeface="Brygada 1918 Semi Bold"/>
                <a:ea typeface="Brygada 1918 Semi Bold"/>
              </a:rPr>
              <a:t>Сборка конструкции</a:t>
            </a:r>
            <a:endParaRPr b="0" lang="ru-RU" sz="2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7" name="Image 3" descr="preencoded.png"/>
          <p:cNvPicPr/>
          <p:nvPr/>
        </p:nvPicPr>
        <p:blipFill>
          <a:blip r:embed="rId4"/>
          <a:stretch/>
        </p:blipFill>
        <p:spPr>
          <a:xfrm>
            <a:off x="793800" y="4743360"/>
            <a:ext cx="694080" cy="83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Text 6"/>
          <p:cNvSpPr/>
          <p:nvPr/>
        </p:nvSpPr>
        <p:spPr>
          <a:xfrm>
            <a:off x="1627200" y="4882320"/>
            <a:ext cx="2778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0" lang="en-US" sz="2150" strike="noStrike" u="none">
                <a:solidFill>
                  <a:srgbClr val="403011"/>
                </a:solidFill>
                <a:effectLst/>
                <a:uFillTx/>
                <a:latin typeface="Brygada 1918 Semi Bold"/>
                <a:ea typeface="Brygada 1918 Semi Bold"/>
              </a:rPr>
              <a:t>Написание ПО</a:t>
            </a:r>
            <a:endParaRPr b="0" lang="ru-RU" sz="2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9" name="Image 4" descr="preencoded.png"/>
          <p:cNvPicPr/>
          <p:nvPr/>
        </p:nvPicPr>
        <p:blipFill>
          <a:blip r:embed="rId5"/>
          <a:stretch/>
        </p:blipFill>
        <p:spPr>
          <a:xfrm>
            <a:off x="793800" y="5576760"/>
            <a:ext cx="694080" cy="83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Text 7"/>
          <p:cNvSpPr/>
          <p:nvPr/>
        </p:nvSpPr>
        <p:spPr>
          <a:xfrm>
            <a:off x="1627200" y="5715720"/>
            <a:ext cx="2901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0" lang="en-US" sz="2150" strike="noStrike" u="none">
                <a:solidFill>
                  <a:srgbClr val="403011"/>
                </a:solidFill>
                <a:effectLst/>
                <a:uFillTx/>
                <a:latin typeface="Brygada 1918 Semi Bold"/>
                <a:ea typeface="Brygada 1918 Semi Bold"/>
              </a:rPr>
              <a:t>Тестирование робота</a:t>
            </a:r>
            <a:endParaRPr b="0" lang="ru-RU" sz="2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1" name="Image 5" descr="preencoded.png"/>
          <p:cNvPicPr/>
          <p:nvPr/>
        </p:nvPicPr>
        <p:blipFill>
          <a:blip r:embed="rId6"/>
          <a:stretch/>
        </p:blipFill>
        <p:spPr>
          <a:xfrm>
            <a:off x="793800" y="6410520"/>
            <a:ext cx="694080" cy="98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Text 8"/>
          <p:cNvSpPr/>
          <p:nvPr/>
        </p:nvSpPr>
        <p:spPr>
          <a:xfrm>
            <a:off x="1627200" y="6549120"/>
            <a:ext cx="5559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0" lang="en-US" sz="2150" strike="noStrike" u="none">
                <a:solidFill>
                  <a:srgbClr val="403011"/>
                </a:solidFill>
                <a:effectLst/>
                <a:uFillTx/>
                <a:latin typeface="Brygada 1918 Semi Bold"/>
                <a:ea typeface="Brygada 1918 Semi Bold"/>
              </a:rPr>
              <a:t>Анализ результатов и подведение итогов</a:t>
            </a:r>
            <a:endParaRPr b="0" lang="ru-RU" sz="2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9"/>
          <p:cNvSpPr/>
          <p:nvPr/>
        </p:nvSpPr>
        <p:spPr>
          <a:xfrm>
            <a:off x="1627200" y="7035480"/>
            <a:ext cx="658872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1749"/>
              </a:lnSpc>
              <a:tabLst>
                <a:tab algn="l" pos="0"/>
              </a:tabLst>
            </a:pPr>
            <a:endParaRPr b="0" lang="en-US" sz="105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 10"/>
          <p:cNvSpPr/>
          <p:nvPr/>
        </p:nvSpPr>
        <p:spPr>
          <a:xfrm>
            <a:off x="8562600" y="1458000"/>
            <a:ext cx="1736280" cy="21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endParaRPr b="0" lang="en-US" sz="135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5" name="Image 6" descr="preencoded.png"/>
          <p:cNvPicPr/>
          <p:nvPr/>
        </p:nvPicPr>
        <p:blipFill>
          <a:blip r:embed="rId7"/>
          <a:stretch/>
        </p:blipFill>
        <p:spPr>
          <a:xfrm>
            <a:off x="8363160" y="1206360"/>
            <a:ext cx="5564880" cy="5564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Rectangle 19"/>
          <p:cNvSpPr/>
          <p:nvPr/>
        </p:nvSpPr>
        <p:spPr>
          <a:xfrm>
            <a:off x="11582280" y="7396560"/>
            <a:ext cx="2914200" cy="723960"/>
          </a:xfrm>
          <a:prstGeom prst="rect">
            <a:avLst/>
          </a:prstGeom>
          <a:solidFill>
            <a:srgbClr val="f6ebd4"/>
          </a:solidFill>
          <a:ln>
            <a:solidFill>
              <a:srgbClr val="f6eb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 0"/>
          <p:cNvSpPr/>
          <p:nvPr/>
        </p:nvSpPr>
        <p:spPr>
          <a:xfrm>
            <a:off x="793800" y="723960"/>
            <a:ext cx="6519240" cy="64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5051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rgbClr val="403011"/>
                </a:solidFill>
                <a:effectLst/>
                <a:uFillTx/>
                <a:latin typeface="Brygada 1918 Semi Bold"/>
                <a:ea typeface="Brygada 1918 Semi Bold"/>
              </a:rPr>
              <a:t>Аппаратные Компоненты</a:t>
            </a:r>
            <a:endParaRPr b="0" lang="ru-RU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8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849600" y="1570320"/>
            <a:ext cx="222840" cy="22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Text 1"/>
          <p:cNvSpPr/>
          <p:nvPr/>
        </p:nvSpPr>
        <p:spPr>
          <a:xfrm>
            <a:off x="1277640" y="1533240"/>
            <a:ext cx="652608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299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403011"/>
                </a:solidFill>
                <a:effectLst/>
                <a:uFillTx/>
                <a:latin typeface="Brygada 1918"/>
                <a:ea typeface="Brygada 1918"/>
              </a:rPr>
              <a:t>Плата микроконтроллера </a:t>
            </a:r>
            <a:r>
              <a:rPr b="1" lang="en-US" sz="1450" strike="noStrike" u="none">
                <a:solidFill>
                  <a:srgbClr val="403011"/>
                </a:solidFill>
                <a:effectLst/>
                <a:uFillTx/>
                <a:latin typeface="Brygada 1918"/>
                <a:ea typeface="Brygada 1918"/>
              </a:rPr>
              <a:t>ESP-32</a:t>
            </a:r>
            <a:endParaRPr b="0" lang="ru-RU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0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49600" y="2351880"/>
            <a:ext cx="222840" cy="22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Text 2"/>
          <p:cNvSpPr/>
          <p:nvPr/>
        </p:nvSpPr>
        <p:spPr>
          <a:xfrm>
            <a:off x="1277640" y="2314800"/>
            <a:ext cx="652608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299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403011"/>
                </a:solidFill>
                <a:effectLst/>
                <a:uFillTx/>
                <a:latin typeface="Brygada 1918"/>
                <a:ea typeface="Brygada 1918"/>
              </a:rPr>
              <a:t>Драйвер двигателей </a:t>
            </a:r>
            <a:r>
              <a:rPr b="1" lang="en-US" sz="1450" strike="noStrike" u="none">
                <a:solidFill>
                  <a:srgbClr val="403011"/>
                </a:solidFill>
                <a:effectLst/>
                <a:uFillTx/>
                <a:latin typeface="Brygada 1918"/>
                <a:ea typeface="Brygada 1918"/>
              </a:rPr>
              <a:t>(L298N)</a:t>
            </a:r>
            <a:endParaRPr b="0" lang="ru-RU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2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49600" y="3133080"/>
            <a:ext cx="222840" cy="22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Text 3"/>
          <p:cNvSpPr/>
          <p:nvPr/>
        </p:nvSpPr>
        <p:spPr>
          <a:xfrm>
            <a:off x="1277640" y="3096000"/>
            <a:ext cx="652608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299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403011"/>
                </a:solidFill>
                <a:effectLst/>
                <a:uFillTx/>
                <a:latin typeface="Brygada 1918"/>
                <a:ea typeface="Brygada 1918"/>
              </a:rPr>
              <a:t>Электродвигатели постоянного тока </a:t>
            </a:r>
            <a:r>
              <a:rPr b="1" lang="en-US" sz="1450" strike="noStrike" u="none">
                <a:solidFill>
                  <a:srgbClr val="403011"/>
                </a:solidFill>
                <a:effectLst/>
                <a:uFillTx/>
                <a:latin typeface="Brygada 1918"/>
                <a:ea typeface="Brygada 1918"/>
              </a:rPr>
              <a:t>(6 шт.)</a:t>
            </a:r>
            <a:endParaRPr b="0" lang="ru-RU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4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849600" y="3914640"/>
            <a:ext cx="222840" cy="22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Text 4"/>
          <p:cNvSpPr/>
          <p:nvPr/>
        </p:nvSpPr>
        <p:spPr>
          <a:xfrm>
            <a:off x="1277640" y="3877560"/>
            <a:ext cx="652608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299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403011"/>
                </a:solidFill>
                <a:effectLst/>
                <a:uFillTx/>
                <a:latin typeface="Brygada 1918"/>
                <a:ea typeface="Brygada 1918"/>
              </a:rPr>
              <a:t>Колеса</a:t>
            </a:r>
            <a:r>
              <a:rPr b="0" lang="ru-RU" sz="1450" strike="noStrike" u="none">
                <a:solidFill>
                  <a:srgbClr val="403011"/>
                </a:solidFill>
                <a:effectLst/>
                <a:uFillTx/>
                <a:latin typeface="Brygada 1918"/>
                <a:ea typeface="Brygada 1918"/>
              </a:rPr>
              <a:t> и двигатели</a:t>
            </a:r>
            <a:endParaRPr b="0" lang="ru-RU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6" name="Image 4" descr="preencoded.png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849600" y="4695840"/>
            <a:ext cx="222840" cy="22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Text 5"/>
          <p:cNvSpPr/>
          <p:nvPr/>
        </p:nvSpPr>
        <p:spPr>
          <a:xfrm>
            <a:off x="1277640" y="4658760"/>
            <a:ext cx="652608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299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403011"/>
                </a:solidFill>
                <a:effectLst/>
                <a:uFillTx/>
                <a:latin typeface="Brygada 1918"/>
                <a:ea typeface="Brygada 1918"/>
              </a:rPr>
              <a:t>Мини </a:t>
            </a:r>
            <a:r>
              <a:rPr b="1" lang="en-US" sz="1450" strike="noStrike" u="none">
                <a:solidFill>
                  <a:srgbClr val="403011"/>
                </a:solidFill>
                <a:effectLst/>
                <a:uFillTx/>
                <a:latin typeface="Brygada 1918"/>
                <a:ea typeface="Brygada 1918"/>
              </a:rPr>
              <a:t>MP-3 </a:t>
            </a:r>
            <a:r>
              <a:rPr b="0" lang="en-US" sz="1450" strike="noStrike" u="none">
                <a:solidFill>
                  <a:srgbClr val="403011"/>
                </a:solidFill>
                <a:effectLst/>
                <a:uFillTx/>
                <a:latin typeface="Brygada 1918"/>
                <a:ea typeface="Brygada 1918"/>
              </a:rPr>
              <a:t>плейер </a:t>
            </a:r>
            <a:r>
              <a:rPr b="0" lang="ru-RU" sz="1450" strike="noStrike" u="none">
                <a:solidFill>
                  <a:srgbClr val="403011"/>
                </a:solidFill>
                <a:effectLst/>
                <a:uFillTx/>
                <a:latin typeface="Brygada 1918"/>
                <a:ea typeface="Brygada 1918"/>
              </a:rPr>
              <a:t>с усилителем и динамиком</a:t>
            </a:r>
            <a:endParaRPr b="0" lang="ru-RU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8" name="Image 5" descr="preencoded.png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849600" y="5477400"/>
            <a:ext cx="222840" cy="22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Text 6"/>
          <p:cNvSpPr/>
          <p:nvPr/>
        </p:nvSpPr>
        <p:spPr>
          <a:xfrm>
            <a:off x="1277640" y="5440320"/>
            <a:ext cx="652608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299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403011"/>
                </a:solidFill>
                <a:effectLst/>
                <a:uFillTx/>
                <a:latin typeface="Brygada 1918"/>
                <a:ea typeface="Brygada 1918"/>
              </a:rPr>
              <a:t>Аккумуляторная батарея </a:t>
            </a:r>
            <a:r>
              <a:rPr b="1" lang="en-US" sz="1450" strike="noStrike" u="none">
                <a:solidFill>
                  <a:srgbClr val="403011"/>
                </a:solidFill>
                <a:effectLst/>
                <a:uFillTx/>
                <a:latin typeface="Brygada 1918"/>
                <a:ea typeface="Brygada 1918"/>
              </a:rPr>
              <a:t>(16V)</a:t>
            </a:r>
            <a:endParaRPr b="0" lang="ru-RU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0" name="Image 6" descr="preencoded.png"/>
          <p:cNvPicPr/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>
            <a:off x="849600" y="6258960"/>
            <a:ext cx="222840" cy="22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Text 7"/>
          <p:cNvSpPr/>
          <p:nvPr/>
        </p:nvSpPr>
        <p:spPr>
          <a:xfrm>
            <a:off x="1277640" y="6221880"/>
            <a:ext cx="652608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299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403011"/>
                </a:solidFill>
                <a:effectLst/>
                <a:uFillTx/>
                <a:latin typeface="Brygada 1918"/>
                <a:ea typeface="Brygada 1918"/>
              </a:rPr>
              <a:t>Соединительные провода, макетная плата</a:t>
            </a:r>
            <a:endParaRPr b="0" lang="ru-RU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2" name="Image 7" descr="preencoded.png"/>
          <p:cNvPicPr/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/>
        </p:blipFill>
        <p:spPr>
          <a:xfrm>
            <a:off x="849600" y="7040160"/>
            <a:ext cx="222840" cy="22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Text 8"/>
          <p:cNvSpPr/>
          <p:nvPr/>
        </p:nvSpPr>
        <p:spPr>
          <a:xfrm>
            <a:off x="1277640" y="7003080"/>
            <a:ext cx="652608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299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403011"/>
                </a:solidFill>
                <a:effectLst/>
                <a:uFillTx/>
                <a:latin typeface="Brygada 1918"/>
                <a:ea typeface="Brygada 1918"/>
              </a:rPr>
              <a:t>Ультразвуковой датчик</a:t>
            </a:r>
            <a:endParaRPr b="0" lang="ru-RU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24" name="Group 2053"/>
          <p:cNvGrpSpPr/>
          <p:nvPr/>
        </p:nvGrpSpPr>
        <p:grpSpPr>
          <a:xfrm>
            <a:off x="7650360" y="653400"/>
            <a:ext cx="6419880" cy="6647040"/>
            <a:chOff x="7650360" y="653400"/>
            <a:chExt cx="6419880" cy="6647040"/>
          </a:xfrm>
        </p:grpSpPr>
        <p:grpSp>
          <p:nvGrpSpPr>
            <p:cNvPr id="125" name="Group 2047"/>
            <p:cNvGrpSpPr/>
            <p:nvPr/>
          </p:nvGrpSpPr>
          <p:grpSpPr>
            <a:xfrm>
              <a:off x="7650360" y="653400"/>
              <a:ext cx="6419880" cy="6647040"/>
              <a:chOff x="7650360" y="653400"/>
              <a:chExt cx="6419880" cy="6647040"/>
            </a:xfrm>
          </p:grpSpPr>
          <p:sp>
            <p:nvSpPr>
              <p:cNvPr id="126" name="Text 9"/>
              <p:cNvSpPr/>
              <p:nvPr/>
            </p:nvSpPr>
            <p:spPr>
              <a:xfrm>
                <a:off x="8400960" y="653400"/>
                <a:ext cx="5669280" cy="237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noAutofit/>
              </a:bodyPr>
              <a:p>
                <a:pPr defTabSz="914400">
                  <a:lnSpc>
                    <a:spcPts val="1851"/>
                  </a:lnSpc>
                  <a:tabLst>
                    <a:tab algn="l" pos="0"/>
                  </a:tabLst>
                </a:pPr>
                <a:endParaRPr b="0" lang="en-US" sz="1150" strike="noStrike" u="non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  <p:pic>
            <p:nvPicPr>
              <p:cNvPr id="127" name="Picture 24" descr=""/>
              <p:cNvPicPr/>
              <p:nvPr/>
            </p:nvPicPr>
            <p:blipFill>
              <a:blip r:embed="rId17"/>
              <a:srcRect l="0" t="13090" r="0" b="0"/>
              <a:stretch/>
            </p:blipFill>
            <p:spPr>
              <a:xfrm>
                <a:off x="7657200" y="778320"/>
                <a:ext cx="2838240" cy="22356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28" name="Picture 26" descr=""/>
              <p:cNvPicPr/>
              <p:nvPr/>
            </p:nvPicPr>
            <p:blipFill>
              <a:blip r:embed="rId18"/>
              <a:srcRect l="0" t="10394" r="0" b="0"/>
              <a:stretch/>
            </p:blipFill>
            <p:spPr>
              <a:xfrm>
                <a:off x="10452240" y="778320"/>
                <a:ext cx="3240360" cy="29037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29" name="Picture 14" descr=""/>
              <p:cNvPicPr/>
              <p:nvPr/>
            </p:nvPicPr>
            <p:blipFill>
              <a:blip r:embed="rId19"/>
              <a:srcRect l="0" t="13417" r="0" b="17421"/>
              <a:stretch/>
            </p:blipFill>
            <p:spPr>
              <a:xfrm>
                <a:off x="7657200" y="2916720"/>
                <a:ext cx="3047760" cy="21078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30" name="Picture 16" descr="Picture background"/>
              <p:cNvPicPr/>
              <p:nvPr/>
            </p:nvPicPr>
            <p:blipFill>
              <a:blip r:embed="rId20"/>
              <a:stretch/>
            </p:blipFill>
            <p:spPr>
              <a:xfrm>
                <a:off x="10638360" y="3324240"/>
                <a:ext cx="3054240" cy="30542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31" name="Picture 18" descr="Picture background"/>
              <p:cNvPicPr/>
              <p:nvPr/>
            </p:nvPicPr>
            <p:blipFill>
              <a:blip r:embed="rId21"/>
              <a:srcRect l="0" t="0" r="0" b="13342"/>
              <a:stretch/>
            </p:blipFill>
            <p:spPr>
              <a:xfrm>
                <a:off x="9181080" y="5541480"/>
                <a:ext cx="2029680" cy="17589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32" name="Picture 20" descr=""/>
              <p:cNvPicPr/>
              <p:nvPr/>
            </p:nvPicPr>
            <p:blipFill>
              <a:blip r:embed="rId22"/>
              <a:stretch/>
            </p:blipFill>
            <p:spPr>
              <a:xfrm>
                <a:off x="7650360" y="4952880"/>
                <a:ext cx="1639440" cy="16394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pic>
          <p:nvPicPr>
            <p:cNvPr id="133" name="Picture 22" descr=""/>
            <p:cNvPicPr/>
            <p:nvPr/>
          </p:nvPicPr>
          <p:blipFill>
            <a:blip r:embed="rId23"/>
            <a:srcRect l="0" t="33400" r="0" b="31322"/>
            <a:stretch/>
          </p:blipFill>
          <p:spPr>
            <a:xfrm>
              <a:off x="11134440" y="6259320"/>
              <a:ext cx="2558160" cy="905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4" name="Picture 40" descr=""/>
            <p:cNvPicPr/>
            <p:nvPr/>
          </p:nvPicPr>
          <p:blipFill>
            <a:blip r:embed="rId24"/>
            <a:srcRect l="11657" t="17940" r="10759" b="17043"/>
            <a:stretch/>
          </p:blipFill>
          <p:spPr>
            <a:xfrm>
              <a:off x="9163080" y="4701600"/>
              <a:ext cx="1639440" cy="1078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5" name="Picture 26" descr=""/>
            <p:cNvPicPr/>
            <p:nvPr/>
          </p:nvPicPr>
          <p:blipFill>
            <a:blip r:embed="rId25"/>
            <a:srcRect l="0" t="16570" r="0" b="17456"/>
            <a:stretch/>
          </p:blipFill>
          <p:spPr>
            <a:xfrm>
              <a:off x="7676280" y="6294600"/>
              <a:ext cx="1524960" cy="10058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36" name="Rectangle 2052"/>
            <p:cNvSpPr/>
            <p:nvPr/>
          </p:nvSpPr>
          <p:spPr>
            <a:xfrm>
              <a:off x="11211120" y="7164360"/>
              <a:ext cx="2481480" cy="136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37" name="Rectangle 48"/>
          <p:cNvSpPr/>
          <p:nvPr/>
        </p:nvSpPr>
        <p:spPr>
          <a:xfrm>
            <a:off x="11582280" y="7396560"/>
            <a:ext cx="2914200" cy="723960"/>
          </a:xfrm>
          <a:prstGeom prst="rect">
            <a:avLst/>
          </a:prstGeom>
          <a:solidFill>
            <a:srgbClr val="f6ebd4"/>
          </a:solidFill>
          <a:ln>
            <a:solidFill>
              <a:srgbClr val="f6eb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 1"/>
          <p:cNvSpPr/>
          <p:nvPr/>
        </p:nvSpPr>
        <p:spPr>
          <a:xfrm>
            <a:off x="11582280" y="7396560"/>
            <a:ext cx="2914200" cy="723960"/>
          </a:xfrm>
          <a:prstGeom prst="rect">
            <a:avLst/>
          </a:prstGeom>
          <a:solidFill>
            <a:srgbClr val="f6ebd4"/>
          </a:solidFill>
          <a:ln>
            <a:solidFill>
              <a:srgbClr val="f6eb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2"/>
          <p:cNvSpPr/>
          <p:nvPr/>
        </p:nvSpPr>
        <p:spPr>
          <a:xfrm>
            <a:off x="897120" y="541800"/>
            <a:ext cx="1113336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Создание схемы робота</a:t>
            </a:r>
            <a:endParaRPr b="0" lang="ru-RU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0" name="Picture 6" descr=""/>
          <p:cNvPicPr/>
          <p:nvPr/>
        </p:nvPicPr>
        <p:blipFill>
          <a:blip r:embed="rId1"/>
          <a:stretch/>
        </p:blipFill>
        <p:spPr>
          <a:xfrm>
            <a:off x="455760" y="3059640"/>
            <a:ext cx="7171560" cy="462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" name="Picture 4" descr=""/>
          <p:cNvPicPr/>
          <p:nvPr/>
        </p:nvPicPr>
        <p:blipFill>
          <a:blip r:embed="rId2"/>
          <a:stretch/>
        </p:blipFill>
        <p:spPr>
          <a:xfrm>
            <a:off x="6615360" y="541800"/>
            <a:ext cx="7558920" cy="4069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 21"/>
          <p:cNvSpPr/>
          <p:nvPr/>
        </p:nvSpPr>
        <p:spPr>
          <a:xfrm>
            <a:off x="11582280" y="7396560"/>
            <a:ext cx="2914200" cy="723960"/>
          </a:xfrm>
          <a:prstGeom prst="rect">
            <a:avLst/>
          </a:prstGeom>
          <a:solidFill>
            <a:srgbClr val="f6ebd4"/>
          </a:solidFill>
          <a:ln>
            <a:solidFill>
              <a:srgbClr val="f6eb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 0"/>
          <p:cNvSpPr/>
          <p:nvPr/>
        </p:nvSpPr>
        <p:spPr>
          <a:xfrm>
            <a:off x="1160640" y="174240"/>
            <a:ext cx="4961520" cy="6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4850"/>
              </a:lnSpc>
              <a:tabLst>
                <a:tab algn="l" pos="0"/>
              </a:tabLst>
            </a:pPr>
            <a:r>
              <a:rPr b="0" lang="en-US" sz="3900" strike="noStrike" u="none">
                <a:solidFill>
                  <a:srgbClr val="403011"/>
                </a:solidFill>
                <a:effectLst/>
                <a:uFillTx/>
                <a:latin typeface="Brygada 1918 Semi Bold"/>
                <a:ea typeface="Brygada 1918 Semi Bold"/>
              </a:rPr>
              <a:t>Сборка</a:t>
            </a:r>
            <a:endParaRPr b="0" lang="ru-RU" sz="3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4" name="Picture 6" descr=""/>
          <p:cNvPicPr/>
          <p:nvPr/>
        </p:nvPicPr>
        <p:blipFill>
          <a:blip r:embed="rId1"/>
          <a:stretch/>
        </p:blipFill>
        <p:spPr>
          <a:xfrm>
            <a:off x="10719360" y="3484440"/>
            <a:ext cx="3503520" cy="4304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5" name="Picture 10" descr=""/>
          <p:cNvPicPr/>
          <p:nvPr/>
        </p:nvPicPr>
        <p:blipFill>
          <a:blip r:embed="rId2"/>
          <a:srcRect l="0" t="10307" r="0" b="23126"/>
          <a:stretch/>
        </p:blipFill>
        <p:spPr>
          <a:xfrm>
            <a:off x="6122520" y="4114800"/>
            <a:ext cx="4199760" cy="372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6" name="Picture 8" descr=""/>
          <p:cNvPicPr/>
          <p:nvPr/>
        </p:nvPicPr>
        <p:blipFill>
          <a:blip r:embed="rId3"/>
          <a:stretch/>
        </p:blipFill>
        <p:spPr>
          <a:xfrm>
            <a:off x="545040" y="4660560"/>
            <a:ext cx="5318640" cy="3128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7" name="Picture 10" descr=""/>
          <p:cNvPicPr/>
          <p:nvPr/>
        </p:nvPicPr>
        <p:blipFill>
          <a:blip r:embed="rId4"/>
          <a:stretch/>
        </p:blipFill>
        <p:spPr>
          <a:xfrm rot="16200000">
            <a:off x="1082160" y="429840"/>
            <a:ext cx="3308400" cy="441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8" name="Picture 14" descr=""/>
          <p:cNvPicPr/>
          <p:nvPr/>
        </p:nvPicPr>
        <p:blipFill>
          <a:blip r:embed="rId5"/>
          <a:srcRect l="19818" t="17217" r="13860" b="16485"/>
          <a:stretch/>
        </p:blipFill>
        <p:spPr>
          <a:xfrm rot="5400000">
            <a:off x="5970240" y="-300600"/>
            <a:ext cx="3416040" cy="4553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" name="Picture 12" descr=""/>
          <p:cNvPicPr/>
          <p:nvPr/>
        </p:nvPicPr>
        <p:blipFill>
          <a:blip r:embed="rId6"/>
          <a:stretch/>
        </p:blipFill>
        <p:spPr>
          <a:xfrm rot="16200000">
            <a:off x="10621800" y="-246240"/>
            <a:ext cx="3087360" cy="4115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 0"/>
          <p:cNvSpPr/>
          <p:nvPr/>
        </p:nvSpPr>
        <p:spPr>
          <a:xfrm>
            <a:off x="520920" y="719280"/>
            <a:ext cx="5360040" cy="49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3900"/>
              </a:lnSpc>
              <a:tabLst>
                <a:tab algn="l" pos="0"/>
              </a:tabLst>
            </a:pPr>
            <a:r>
              <a:rPr b="0" lang="en-US" sz="3100" strike="noStrike" u="none">
                <a:solidFill>
                  <a:srgbClr val="403011"/>
                </a:solidFill>
                <a:effectLst/>
                <a:uFillTx/>
                <a:latin typeface="Brygada 1918 Semi Bold"/>
                <a:ea typeface="Brygada 1918 Semi Bold"/>
              </a:rPr>
              <a:t>Программное Обеспечение</a:t>
            </a:r>
            <a:endParaRPr b="0" lang="ru-RU" sz="3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1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595440" y="1448640"/>
            <a:ext cx="297360" cy="29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Text 1"/>
          <p:cNvSpPr/>
          <p:nvPr/>
        </p:nvSpPr>
        <p:spPr>
          <a:xfrm>
            <a:off x="1166040" y="1438920"/>
            <a:ext cx="30466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403011"/>
                </a:solidFill>
                <a:effectLst/>
                <a:uFillTx/>
                <a:latin typeface="Brygada 1918"/>
                <a:ea typeface="Brygada 1918"/>
              </a:rPr>
              <a:t>Среда разработки </a:t>
            </a:r>
            <a:r>
              <a:rPr b="1" lang="en-US" sz="1550" strike="noStrike" u="none">
                <a:solidFill>
                  <a:srgbClr val="403011"/>
                </a:solidFill>
                <a:effectLst/>
                <a:uFillTx/>
                <a:latin typeface="Brygada 1918"/>
                <a:ea typeface="Brygada 1918"/>
              </a:rPr>
              <a:t>Arduino IDE</a:t>
            </a:r>
            <a:endParaRPr b="0" lang="ru-RU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3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535280" y="1448640"/>
            <a:ext cx="297360" cy="29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Text 2"/>
          <p:cNvSpPr/>
          <p:nvPr/>
        </p:nvSpPr>
        <p:spPr>
          <a:xfrm>
            <a:off x="5105880" y="1438920"/>
            <a:ext cx="304668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403011"/>
                </a:solidFill>
                <a:effectLst/>
                <a:uFillTx/>
                <a:latin typeface="Brygada 1918"/>
                <a:ea typeface="Brygada 1918"/>
              </a:rPr>
              <a:t>Приложение </a:t>
            </a:r>
            <a:r>
              <a:rPr b="1" lang="en-US" sz="1550" strike="noStrike" u="none">
                <a:solidFill>
                  <a:srgbClr val="403011"/>
                </a:solidFill>
                <a:effectLst/>
                <a:uFillTx/>
                <a:latin typeface="Brygada 1918"/>
                <a:ea typeface="Brygada 1918"/>
              </a:rPr>
              <a:t>ESPiX: ESP32 WiFi Controller</a:t>
            </a:r>
            <a:endParaRPr b="0" lang="ru-RU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5" name="Image 2" descr="preencoded.png"/>
          <p:cNvPicPr/>
          <p:nvPr/>
        </p:nvPicPr>
        <p:blipFill>
          <a:blip r:embed="rId5"/>
          <a:stretch/>
        </p:blipFill>
        <p:spPr>
          <a:xfrm>
            <a:off x="8917560" y="1651680"/>
            <a:ext cx="4926240" cy="4926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Rectangle 9"/>
          <p:cNvSpPr/>
          <p:nvPr/>
        </p:nvSpPr>
        <p:spPr>
          <a:xfrm>
            <a:off x="11582280" y="7396560"/>
            <a:ext cx="2914200" cy="723960"/>
          </a:xfrm>
          <a:prstGeom prst="rect">
            <a:avLst/>
          </a:prstGeom>
          <a:solidFill>
            <a:srgbClr val="f6ebd4"/>
          </a:solidFill>
          <a:ln>
            <a:solidFill>
              <a:srgbClr val="f6eb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57" name="" descr=""/>
          <p:cNvPicPr/>
          <p:nvPr/>
        </p:nvPicPr>
        <p:blipFill>
          <a:blip r:embed="rId6"/>
          <a:stretch/>
        </p:blipFill>
        <p:spPr>
          <a:xfrm>
            <a:off x="1831320" y="3451320"/>
            <a:ext cx="3388680" cy="3388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 0"/>
          <p:cNvSpPr/>
          <p:nvPr/>
        </p:nvSpPr>
        <p:spPr>
          <a:xfrm>
            <a:off x="793800" y="1883520"/>
            <a:ext cx="7860960" cy="85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6701"/>
              </a:lnSpc>
              <a:tabLst>
                <a:tab algn="l" pos="0"/>
              </a:tabLst>
            </a:pPr>
            <a:r>
              <a:rPr b="0" lang="en-US" sz="5350" strike="noStrike" u="none">
                <a:solidFill>
                  <a:srgbClr val="403011"/>
                </a:solidFill>
                <a:effectLst/>
                <a:uFillTx/>
                <a:latin typeface="Brygada 1918 Semi Bold"/>
                <a:ea typeface="Brygada 1918 Semi Bold"/>
              </a:rPr>
              <a:t>Результаты Испытаний</a:t>
            </a:r>
            <a:endParaRPr b="0" lang="ru-RU" sz="5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"/>
          <p:cNvSpPr/>
          <p:nvPr/>
        </p:nvSpPr>
        <p:spPr>
          <a:xfrm>
            <a:off x="793800" y="3235320"/>
            <a:ext cx="4181760" cy="78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ts val="6151"/>
              </a:lnSpc>
              <a:tabLst>
                <a:tab algn="l" pos="0"/>
              </a:tabLst>
            </a:pPr>
            <a:r>
              <a:rPr b="0" lang="en-US" sz="6150" strike="noStrike" u="none">
                <a:solidFill>
                  <a:srgbClr val="403011"/>
                </a:solidFill>
                <a:effectLst/>
                <a:uFillTx/>
                <a:latin typeface="Brygada 1918 Semi Bold"/>
                <a:ea typeface="Brygada 1918 Semi Bold"/>
              </a:rPr>
              <a:t>12 - 15 м</a:t>
            </a:r>
            <a:endParaRPr b="0" lang="ru-RU" sz="6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2"/>
          <p:cNvSpPr/>
          <p:nvPr/>
        </p:nvSpPr>
        <p:spPr>
          <a:xfrm>
            <a:off x="1396440" y="4267080"/>
            <a:ext cx="2976840" cy="37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ts val="2900"/>
              </a:lnSpc>
              <a:tabLst>
                <a:tab algn="l" pos="0"/>
              </a:tabLst>
            </a:pPr>
            <a:r>
              <a:rPr b="0" lang="en-US" sz="2300" strike="noStrike" u="none">
                <a:solidFill>
                  <a:srgbClr val="403011"/>
                </a:solidFill>
                <a:effectLst/>
                <a:uFillTx/>
                <a:latin typeface="Brygada 1918 Semi Bold"/>
                <a:ea typeface="Brygada 1918 Semi Bold"/>
              </a:rPr>
              <a:t>Устойчивость Связи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3"/>
          <p:cNvSpPr/>
          <p:nvPr/>
        </p:nvSpPr>
        <p:spPr>
          <a:xfrm>
            <a:off x="793800" y="4758480"/>
            <a:ext cx="4181760" cy="158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3101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403011"/>
                </a:solidFill>
                <a:effectLst/>
                <a:uFillTx/>
                <a:latin typeface="Brygada 1918"/>
                <a:ea typeface="Brygada 1918"/>
              </a:rPr>
              <a:t>Стабильная связь сохраняется на расстоянии до 12-15 метров, обеспечивая отзывчивое управление.</a:t>
            </a:r>
            <a:endParaRPr b="0" lang="ru-RU" sz="1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4"/>
          <p:cNvSpPr/>
          <p:nvPr/>
        </p:nvSpPr>
        <p:spPr>
          <a:xfrm>
            <a:off x="5223960" y="3235320"/>
            <a:ext cx="4182120" cy="78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ts val="6151"/>
              </a:lnSpc>
              <a:tabLst>
                <a:tab algn="l" pos="0"/>
              </a:tabLst>
            </a:pPr>
            <a:r>
              <a:rPr b="0" lang="ru-RU" sz="6150" strike="noStrike" u="none">
                <a:solidFill>
                  <a:srgbClr val="403011"/>
                </a:solidFill>
                <a:effectLst/>
                <a:uFillTx/>
                <a:latin typeface="Brygada 1918 Semi Bold"/>
                <a:ea typeface="Brygada 1918 Semi Bold"/>
              </a:rPr>
              <a:t>30</a:t>
            </a:r>
            <a:r>
              <a:rPr b="0" lang="en-US" sz="6150" strike="noStrike" u="none">
                <a:solidFill>
                  <a:srgbClr val="403011"/>
                </a:solidFill>
                <a:effectLst/>
                <a:uFillTx/>
                <a:latin typeface="Brygada 1918 Semi Bold"/>
                <a:ea typeface="Brygada 1918 Semi Bold"/>
              </a:rPr>
              <a:t> </a:t>
            </a:r>
            <a:r>
              <a:rPr b="0" lang="ru-RU" sz="6150" strike="noStrike" u="none">
                <a:solidFill>
                  <a:srgbClr val="403011"/>
                </a:solidFill>
                <a:effectLst/>
                <a:uFillTx/>
                <a:latin typeface="Brygada 1918 Semi Bold"/>
                <a:ea typeface="Brygada 1918 Semi Bold"/>
              </a:rPr>
              <a:t>часов</a:t>
            </a:r>
            <a:endParaRPr b="0" lang="ru-RU" sz="6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5"/>
          <p:cNvSpPr/>
          <p:nvPr/>
        </p:nvSpPr>
        <p:spPr>
          <a:xfrm>
            <a:off x="5826600" y="4267080"/>
            <a:ext cx="2976840" cy="37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ts val="2900"/>
              </a:lnSpc>
              <a:tabLst>
                <a:tab algn="l" pos="0"/>
              </a:tabLst>
            </a:pPr>
            <a:r>
              <a:rPr b="0" lang="en-US" sz="2300" strike="noStrike" u="none">
                <a:solidFill>
                  <a:srgbClr val="403011"/>
                </a:solidFill>
                <a:effectLst/>
                <a:uFillTx/>
                <a:latin typeface="Brygada 1918 Semi Bold"/>
                <a:ea typeface="Brygada 1918 Semi Bold"/>
              </a:rPr>
              <a:t>Время Работы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6"/>
          <p:cNvSpPr/>
          <p:nvPr/>
        </p:nvSpPr>
        <p:spPr>
          <a:xfrm>
            <a:off x="5223960" y="4758480"/>
            <a:ext cx="4182120" cy="11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3101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403011"/>
                </a:solidFill>
                <a:effectLst/>
                <a:uFillTx/>
                <a:latin typeface="Brygada 1918"/>
                <a:ea typeface="Brygada 1918"/>
              </a:rPr>
              <a:t>Время работы от аккумулятора без подзарядки составляет пр</a:t>
            </a:r>
            <a:r>
              <a:rPr b="0" lang="ru-RU" sz="1950" strike="noStrike" u="none">
                <a:solidFill>
                  <a:srgbClr val="403011"/>
                </a:solidFill>
                <a:effectLst/>
                <a:uFillTx/>
                <a:latin typeface="Brygada 1918"/>
                <a:ea typeface="Brygada 1918"/>
              </a:rPr>
              <a:t>и</a:t>
            </a:r>
            <a:r>
              <a:rPr b="0" lang="en-US" sz="1950" strike="noStrike" u="none">
                <a:solidFill>
                  <a:srgbClr val="403011"/>
                </a:solidFill>
                <a:effectLst/>
                <a:uFillTx/>
                <a:latin typeface="Brygada 1918"/>
                <a:ea typeface="Brygada 1918"/>
              </a:rPr>
              <a:t>мерно </a:t>
            </a:r>
            <a:r>
              <a:rPr b="0" lang="ru-RU" sz="1950" strike="noStrike" u="none">
                <a:solidFill>
                  <a:srgbClr val="403011"/>
                </a:solidFill>
                <a:effectLst/>
                <a:uFillTx/>
                <a:latin typeface="Brygada 1918"/>
                <a:ea typeface="Brygada 1918"/>
              </a:rPr>
              <a:t>30</a:t>
            </a:r>
            <a:r>
              <a:rPr b="0" lang="en-US" sz="1950" strike="noStrike" u="none">
                <a:solidFill>
                  <a:srgbClr val="403011"/>
                </a:solidFill>
                <a:effectLst/>
                <a:uFillTx/>
                <a:latin typeface="Brygada 1918"/>
                <a:ea typeface="Brygada 1918"/>
              </a:rPr>
              <a:t> </a:t>
            </a:r>
            <a:r>
              <a:rPr b="0" lang="ru-RU" sz="1950" strike="noStrike" u="none">
                <a:solidFill>
                  <a:srgbClr val="403011"/>
                </a:solidFill>
                <a:effectLst/>
                <a:uFillTx/>
                <a:latin typeface="Brygada 1918"/>
                <a:ea typeface="Brygada 1918"/>
              </a:rPr>
              <a:t>часов</a:t>
            </a:r>
            <a:r>
              <a:rPr b="0" lang="en-US" sz="1950" strike="noStrike" u="none">
                <a:solidFill>
                  <a:srgbClr val="403011"/>
                </a:solidFill>
                <a:effectLst/>
                <a:uFillTx/>
                <a:latin typeface="Brygada 1918"/>
                <a:ea typeface="Brygada 1918"/>
              </a:rPr>
              <a:t>.</a:t>
            </a:r>
            <a:endParaRPr b="0" lang="ru-RU" sz="1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7"/>
          <p:cNvSpPr/>
          <p:nvPr/>
        </p:nvSpPr>
        <p:spPr>
          <a:xfrm>
            <a:off x="9654480" y="3235320"/>
            <a:ext cx="4182120" cy="78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ts val="6151"/>
              </a:lnSpc>
              <a:tabLst>
                <a:tab algn="l" pos="0"/>
              </a:tabLst>
            </a:pPr>
            <a:r>
              <a:rPr b="0" lang="en-US" sz="6150" strike="noStrike" u="none">
                <a:solidFill>
                  <a:srgbClr val="403011"/>
                </a:solidFill>
                <a:effectLst/>
                <a:uFillTx/>
                <a:latin typeface="Brygada 1918 Semi Bold"/>
                <a:ea typeface="Brygada 1918 Semi Bold"/>
              </a:rPr>
              <a:t>3 кг</a:t>
            </a:r>
            <a:endParaRPr b="0" lang="ru-RU" sz="6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8"/>
          <p:cNvSpPr/>
          <p:nvPr/>
        </p:nvSpPr>
        <p:spPr>
          <a:xfrm>
            <a:off x="10256760" y="4267080"/>
            <a:ext cx="2976840" cy="37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ts val="2900"/>
              </a:lnSpc>
              <a:tabLst>
                <a:tab algn="l" pos="0"/>
              </a:tabLst>
            </a:pPr>
            <a:r>
              <a:rPr b="0" lang="en-US" sz="2300" strike="noStrike" u="none">
                <a:solidFill>
                  <a:srgbClr val="403011"/>
                </a:solidFill>
                <a:effectLst/>
                <a:uFillTx/>
                <a:latin typeface="Brygada 1918 Semi Bold"/>
                <a:ea typeface="Brygada 1918 Semi Bold"/>
              </a:rPr>
              <a:t>Грузоподъемность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9"/>
          <p:cNvSpPr/>
          <p:nvPr/>
        </p:nvSpPr>
        <p:spPr>
          <a:xfrm>
            <a:off x="9654480" y="4758480"/>
            <a:ext cx="4182120" cy="79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3101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403011"/>
                </a:solidFill>
                <a:effectLst/>
                <a:uFillTx/>
                <a:latin typeface="Brygada 1918"/>
                <a:ea typeface="Brygada 1918"/>
              </a:rPr>
              <a:t>Робот способен передвигаться с дополнительной нагрузкой</a:t>
            </a:r>
            <a:endParaRPr b="0" lang="ru-RU" sz="1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Rectangle 11"/>
          <p:cNvSpPr/>
          <p:nvPr/>
        </p:nvSpPr>
        <p:spPr>
          <a:xfrm>
            <a:off x="11582280" y="7396560"/>
            <a:ext cx="2914200" cy="723960"/>
          </a:xfrm>
          <a:prstGeom prst="rect">
            <a:avLst/>
          </a:prstGeom>
          <a:solidFill>
            <a:srgbClr val="f6ebd4"/>
          </a:solidFill>
          <a:ln>
            <a:solidFill>
              <a:srgbClr val="f6eb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 1"/>
          <p:cNvSpPr/>
          <p:nvPr/>
        </p:nvSpPr>
        <p:spPr>
          <a:xfrm>
            <a:off x="964440" y="362880"/>
            <a:ext cx="5425200" cy="42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3300"/>
              </a:lnSpc>
              <a:tabLst>
                <a:tab algn="l" pos="0"/>
              </a:tabLst>
            </a:pPr>
            <a:r>
              <a:rPr b="0" lang="en-US" sz="2650" strike="noStrike" u="none">
                <a:solidFill>
                  <a:srgbClr val="403011"/>
                </a:solidFill>
                <a:effectLst/>
                <a:uFillTx/>
                <a:latin typeface="Brygada 1918 Semi Bold"/>
                <a:ea typeface="Brygada 1918 Semi Bold"/>
              </a:rPr>
              <a:t>Выводы и Перспективы Проекта</a:t>
            </a:r>
            <a:endParaRPr b="0" lang="ru-RU" sz="2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Rectangle 21"/>
          <p:cNvSpPr/>
          <p:nvPr/>
        </p:nvSpPr>
        <p:spPr>
          <a:xfrm>
            <a:off x="11582280" y="7396560"/>
            <a:ext cx="2914200" cy="723960"/>
          </a:xfrm>
          <a:prstGeom prst="rect">
            <a:avLst/>
          </a:prstGeom>
          <a:solidFill>
            <a:srgbClr val="f6ebd4"/>
          </a:solidFill>
          <a:ln>
            <a:solidFill>
              <a:srgbClr val="f6eb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Box 23"/>
          <p:cNvSpPr/>
          <p:nvPr/>
        </p:nvSpPr>
        <p:spPr>
          <a:xfrm>
            <a:off x="1144800" y="1685160"/>
            <a:ext cx="5808240" cy="526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Подведем итоги. Нам удалось создать универсального робота, которого можно использовать для разных задач. Цель достигнута. Робот соответствует требуемым характеристикам, однако у нас есть идеи как его усовершенствовать. Если добавить компас, gsm и gps модули можно будет направлять робота по координатам или азимуту, а так же управлять им из любой точки Земли.</a:t>
            </a:r>
            <a:endParaRPr b="0" lang="ru-RU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2" name="Picture 2" descr=""/>
          <p:cNvPicPr/>
          <p:nvPr/>
        </p:nvPicPr>
        <p:blipFill>
          <a:blip r:embed="rId1"/>
          <a:stretch/>
        </p:blipFill>
        <p:spPr>
          <a:xfrm>
            <a:off x="8456760" y="0"/>
            <a:ext cx="6173280" cy="8229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Rectangle 3"/>
          <p:cNvSpPr/>
          <p:nvPr/>
        </p:nvSpPr>
        <p:spPr>
          <a:xfrm>
            <a:off x="11582280" y="7396560"/>
            <a:ext cx="2914200" cy="723960"/>
          </a:xfrm>
          <a:prstGeom prst="rect">
            <a:avLst/>
          </a:prstGeom>
          <a:solidFill>
            <a:srgbClr val="f6ebd4"/>
          </a:solidFill>
          <a:ln>
            <a:solidFill>
              <a:srgbClr val="f6eb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74" name="Picture 2" descr=""/>
          <p:cNvPicPr/>
          <p:nvPr/>
        </p:nvPicPr>
        <p:blipFill>
          <a:blip r:embed="rId1"/>
          <a:stretch/>
        </p:blipFill>
        <p:spPr>
          <a:xfrm>
            <a:off x="542520" y="1154160"/>
            <a:ext cx="9183960" cy="671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TextBox 4"/>
          <p:cNvSpPr/>
          <p:nvPr/>
        </p:nvSpPr>
        <p:spPr>
          <a:xfrm>
            <a:off x="542520" y="271440"/>
            <a:ext cx="70333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Смета</a:t>
            </a:r>
            <a:endParaRPr b="0" lang="ru-RU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ectangle 1"/>
          <p:cNvSpPr/>
          <p:nvPr/>
        </p:nvSpPr>
        <p:spPr>
          <a:xfrm>
            <a:off x="11582280" y="7396560"/>
            <a:ext cx="2914200" cy="723960"/>
          </a:xfrm>
          <a:prstGeom prst="rect">
            <a:avLst/>
          </a:prstGeom>
          <a:solidFill>
            <a:srgbClr val="f6ebd4"/>
          </a:solidFill>
          <a:ln>
            <a:solidFill>
              <a:srgbClr val="f6eb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TextBox 2"/>
          <p:cNvSpPr/>
          <p:nvPr/>
        </p:nvSpPr>
        <p:spPr>
          <a:xfrm>
            <a:off x="2943720" y="527040"/>
            <a:ext cx="13785840" cy="11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7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Спасибо за внимание!</a:t>
            </a:r>
            <a:endParaRPr b="0" lang="ru-RU" sz="7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8" name="Picture 4" descr=""/>
          <p:cNvPicPr/>
          <p:nvPr/>
        </p:nvPicPr>
        <p:blipFill>
          <a:blip r:embed="rId1"/>
          <a:stretch/>
        </p:blipFill>
        <p:spPr>
          <a:xfrm>
            <a:off x="3989520" y="1920960"/>
            <a:ext cx="6651000" cy="6155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551</TotalTime>
  <Application>LibreOffice/25.2.7.2$Windows_X86_64 LibreOffice_project/5cbfd1ab6520636bb5f7b99185aa69bd7456825d</Application>
  <AppVersion>15.0000</AppVersion>
  <Words>326</Words>
  <Paragraphs>70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2025-11-28T16:32:07Z</dcterms:created>
  <dc:creator>vova</dc:creator>
  <dc:description/>
  <dc:language>ru-RU</dc:language>
  <cp:lastModifiedBy/>
  <dcterms:modified xsi:type="dcterms:W3CDTF">2025-11-29T07:46:33Z</dcterms:modified>
  <cp:revision>18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Custom</vt:lpwstr>
  </property>
  <property fmtid="{D5CDD505-2E9C-101B-9397-08002B2CF9AE}" pid="4" name="Slides">
    <vt:i4>12</vt:i4>
  </property>
</Properties>
</file>